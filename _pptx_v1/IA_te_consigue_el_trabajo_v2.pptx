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(1 min). Pregunta: ¿cuántos aquí están buscando trabajo o lo buscarán en el próximo año?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breve (1 min). Máximo 3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las manos. Al final de la charla volvemos a preguntar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mano: ¿quién busca trabajo o lo buscará pronto?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(1 min). Un bloque = una idea que se llevan.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Tiempo estimado: 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(1 min): el miedo no es nuevo. Cambia el trabajo, no desaparece.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WEF Future of Jobs 2025. Abrir rompiendo el miedo: el saldo es positivo (1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'desaparecer', es 'cambiar'.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veces más riesgo en países ricos. Ecuador tiene más que ganar que perder.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Expuestos no es lo mismo que reemplazados.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con la diapositiva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votos levantando la mano. Dar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más fuerte de la charla. Saber IA 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Crecimiento de demanda.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amplifica al que ya sabe. Por eso hay que aprender el oficio Y 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eres de humanidades: sirve igual. No hace falta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interés comercial si hay público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habilidad no es usar IA, es verificarla.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que se llevan. Repetirla.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Tiempo estimado: 11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Credibilidad: reconocer el riesgo real.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Comparado con dónde estaría sin la IA. Datos de nómina ADP, EE. UU.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grupo etario, distinta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 desarrollador: me toca de cerca. Ser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trabajadores con experiencia no muestran esa brecha.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clave del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Puestos junior más expuestos a IA (datos EE. UU.)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límites da credibilidad.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en Ecuador es el mercado, no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INEC mayo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Pausa. Dejar que el número pese.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escasez es la oportunidad.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dar cifras: las fuentes son blogs.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Personalizar con una historia ecuatoriana.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Tiempo estimado: 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ZipRecruiter 2026, más de 1.000 reclutadores (resumen HeroHunt).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embudo. Lo escaso ahora es la señal de autenticidad.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Matiz: la contratación sigue siendo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Robert Half 2026 (citado por Peopable).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Implicación: tu perfil lo lee primero una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Búsqueda semántica: entiende sinónimos y conceptos relacionados.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Vuelven las entrevistas presenciales.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Interpelar al público en vivo: pedir que alguien responda.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Votar levantando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Jobscan: el ATS guarda y permite buscar por palabras clave, no rechaza. Lo que hunde el CV es la avalancha.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ventaja es la señal, no el volumen.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Tiempo estimado: 16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Personalizar duplica las probabilidades.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Menos, pero mejor.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 del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CV o mensaje 100% genérico hecho con IA. Suele provocar risas.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secundarias: citarlas como 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rápido; los prompts vienen en las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el ejemplo real que vas a mostrar en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Pega aquí la captura por si falla la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minutos con voluntario.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Respaldo de la demo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el agente reclutador y la búsqueda semántica.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titular es lo más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minutos. Mismo perfil, tres versiones. Votación levantando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Foto: las cifras (14x–21x) son inconsistentes entre fuentes; presentar como principio, sin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LinkedIn para descubrir y conectar, no solo para 'Solicitud sencilla'.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ética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como proyección.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Sexto paso, de viva voz: prepara preguntas inteligentes para el entrevistador.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minutos. Usa la oferta de la demo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para la charla.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de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5. Tiempo estimado: 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canal más eficiente, pero no el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decir '85% se consigue por networking': no tiene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Ahí está la oportunidad.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acción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de cada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nota cuando lo escribió una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las cuatro semanas una por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semana, un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semana, un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semana, un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semana, un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 para 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Volver a levantar la mano. ¿Cambió algo? Cerrar con la prima de 62% de PwC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Volver al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final. Pausa. Pasar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mostrar hasta que pregunten. Sirve de respaldo.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y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primarias primero; las secundarias, verificar antes de citar.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PONENCIA · EMPLEO E IA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no te quitará el trabajo, </a:t>
            </a:r>
            <a:pPr indent="0" marL="0">
              <a:buNone/>
            </a:pPr>
            <a:r>
              <a:rPr lang="en-US" sz="4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sí te lo puede conseguir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663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reales, nuevas reglas de contratación y cómo usar la IA para conseguir empleo.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Cristhian Recalde · @cry.code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0" y="822960"/>
            <a:ext cx="3154680" cy="5212080"/>
          </a:xfrm>
          <a:prstGeom prst="roundRect">
            <a:avLst>
              <a:gd name="adj" fmla="val 5217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8686800" y="822960"/>
            <a:ext cx="26060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de portada / collage 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les habla?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pic>
        <p:nvPicPr>
          <p:cNvPr id="6" name="Image 0" descr="assets/f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3017520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80560" y="1828800"/>
            <a:ext cx="7040880" cy="1188720"/>
          </a:xfrm>
          <a:prstGeom prst="roundRect">
            <a:avLst>
              <a:gd name="adj" fmla="val 1153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75488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18288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móviles publicadas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480560" y="3200400"/>
            <a:ext cx="7040880" cy="1188720"/>
          </a:xfrm>
          <a:prstGeom prst="roundRect">
            <a:avLst>
              <a:gd name="adj" fmla="val 1153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75488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3200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Builder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480560" y="4572000"/>
            <a:ext cx="7040880" cy="1188720"/>
          </a:xfrm>
          <a:prstGeom prst="roundRect">
            <a:avLst>
              <a:gd name="adj" fmla="val 1153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0" y="4572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38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4572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y empresas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 LA SALA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 la mano si crees que la IA te va a quitar el trabajo.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8463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las manos. Al final volvemos a preguntar.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levantando la mano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 LA SALA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está buscando trabajo, o lo buscará este año?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10908792" cy="2011680"/>
          </a:xfrm>
          <a:prstGeom prst="roundRect">
            <a:avLst>
              <a:gd name="adj" fmla="val 8182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37490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Ilustración: foto de sala o emoji gigante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miedo al plan de acción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962302" cy="2377440"/>
          </a:xfrm>
          <a:prstGeom prst="roundRect">
            <a:avLst>
              <a:gd name="adj" fmla="val 699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743200"/>
            <a:ext cx="1413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91840"/>
            <a:ext cx="1413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76702" y="2468880"/>
            <a:ext cx="1962302" cy="2377440"/>
          </a:xfrm>
          <a:prstGeom prst="roundRect">
            <a:avLst>
              <a:gd name="adj" fmla="val 699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1022" y="2743200"/>
            <a:ext cx="1413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151022" y="3291840"/>
            <a:ext cx="1413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13325" y="2468880"/>
            <a:ext cx="1962302" cy="2377440"/>
          </a:xfrm>
          <a:prstGeom prst="roundRect">
            <a:avLst>
              <a:gd name="adj" fmla="val 699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87645" y="2743200"/>
            <a:ext cx="1413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387645" y="3291840"/>
            <a:ext cx="1413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49947" y="2468880"/>
            <a:ext cx="1962302" cy="2377440"/>
          </a:xfrm>
          <a:prstGeom prst="roundRect">
            <a:avLst>
              <a:gd name="adj" fmla="val 699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24267" y="2743200"/>
            <a:ext cx="1413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624267" y="3291840"/>
            <a:ext cx="1413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aliada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586570" y="2468880"/>
            <a:ext cx="1962302" cy="2377440"/>
          </a:xfrm>
          <a:prstGeom prst="roundRect">
            <a:avLst>
              <a:gd name="adj" fmla="val 699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60890" y="2743200"/>
            <a:ext cx="1413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860890" y="3291840"/>
            <a:ext cx="14136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 y plan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IA viene por tu trabajo? Veamos qué dicen los números.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548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revolución tecnológica dio miedo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Cajeros automáticos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13232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histórica: oficina antes de Excel / ATM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saldo neto es positivo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453384" cy="3108960"/>
          </a:xfrm>
          <a:prstGeom prst="roundRect">
            <a:avLst>
              <a:gd name="adj" fmla="val 441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3453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+170 M</a:t>
            </a:r>
            <a:endParaRPr lang="en-US" sz="6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97680"/>
            <a:ext cx="3453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empleos creados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67784" y="2377440"/>
            <a:ext cx="3453384" cy="3108960"/>
          </a:xfrm>
          <a:prstGeom prst="roundRect">
            <a:avLst>
              <a:gd name="adj" fmla="val 441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67784" y="2651760"/>
            <a:ext cx="3453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−92 M</a:t>
            </a:r>
            <a:endParaRPr lang="en-US" sz="6800" dirty="0"/>
          </a:p>
        </p:txBody>
      </p:sp>
      <p:sp>
        <p:nvSpPr>
          <p:cNvPr id="11" name="Text 8"/>
          <p:cNvSpPr txBox="1"/>
          <p:nvPr/>
        </p:nvSpPr>
        <p:spPr>
          <a:xfrm>
            <a:off x="4367784" y="4297680"/>
            <a:ext cx="3453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desplazados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95488" y="2377440"/>
            <a:ext cx="3453384" cy="3108960"/>
          </a:xfrm>
          <a:prstGeom prst="roundRect">
            <a:avLst>
              <a:gd name="adj" fmla="val 441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5488" y="2651760"/>
            <a:ext cx="3453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 M</a:t>
            </a:r>
            <a:endParaRPr lang="en-US" sz="6800" dirty="0"/>
          </a:p>
        </p:txBody>
      </p:sp>
      <p:sp>
        <p:nvSpPr>
          <p:cNvPr id="14" name="Text 11"/>
          <p:cNvSpPr txBox="1"/>
          <p:nvPr/>
        </p:nvSpPr>
        <p:spPr>
          <a:xfrm>
            <a:off x="8095488" y="4297680"/>
            <a:ext cx="3453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neto a 2030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Económico Mundial · Future of Jobs Report 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7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habilidades clave van a cambiar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Ícono o imagen: cambio de habilidades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Future of Jobs 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 · BANCO MUNDIAL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Empleos en riesgo de automatización por IA generativa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de ingreso alto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7498080" cy="548640"/>
          </a:xfrm>
          <a:prstGeom prst="roundRect">
            <a:avLst>
              <a:gd name="adj" fmla="val 10000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en desarrollo (como Ecuador)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2376152" cy="548640"/>
          </a:xfrm>
          <a:prstGeom prst="roundRect">
            <a:avLst>
              <a:gd name="adj" fmla="val 10000"/>
            </a:avLst>
          </a:prstGeom>
          <a:solidFill>
            <a:srgbClr val="41B3FF"/>
          </a:solidFill>
          <a:ln w="1270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4832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Mundial, World Development Report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 · LATINOAMÉRICA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26–38%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empleos en la región están expuestos a IA generativa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Latinoamérica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 y Banco Mundial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MIEDO VS LOS DATOS · LATINOAMÉRICA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riesgo de automatización total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Gráfico: expuestos vs reemplazados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 y Banco Mundial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ADIVINA EL DATO · PREGUNTA AL PÚBLICO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más ganan, en promedio, los empleos que piden habilidades de IA?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3453384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3453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12% más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367784" y="3566160"/>
            <a:ext cx="3453384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7784" y="3566160"/>
            <a:ext cx="3453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35% más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095488" y="3566160"/>
            <a:ext cx="3453384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5488" y="3566160"/>
            <a:ext cx="3453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62% más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RESPUESTA: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salarial promedio de los empleos que piden IA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billete / gráfico ascendente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· Global AI Jobs Barometer 2026 (57% el año anterior)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· AI JOBS BAROMETER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empleos que piden IA crecen mucho más rápido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Empleos que piden habilidades de 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7498080" cy="548640"/>
          </a:xfrm>
          <a:prstGeom prst="roundRect">
            <a:avLst>
              <a:gd name="adj" fmla="val 10000"/>
            </a:avLst>
          </a:prstGeom>
          <a:solidFill>
            <a:srgbClr val="41B3FF"/>
          </a:solidFill>
          <a:ln w="1270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laboral en general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978010" cy="548640"/>
          </a:xfrm>
          <a:prstGeom prst="roundRect">
            <a:avLst>
              <a:gd name="adj" fmla="val 10000"/>
            </a:avLst>
          </a:prstGeom>
          <a:solidFill>
            <a:srgbClr val="8B98A5"/>
          </a:solidFill>
          <a:ln w="12700">
            <a:solidFill>
              <a:srgbClr val="8B98A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4669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· más de 1.000 millones de avisos en 27 países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· MERCADO DE DOS VÍAS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premia el criterio experto, no lo reemplaza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crecimiento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51960"/>
            <a:ext cx="47685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empleos que la IA 'profesionaliza' frente a los que 'democratiza'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1636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crecimiento salarial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05956" y="4251960"/>
            <a:ext cx="47685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esos mismos empleos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· SKILLS ON THE RISE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Crecen en paralelo dos tipos de habilidades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2926080"/>
          </a:xfrm>
          <a:prstGeom prst="roundRect">
            <a:avLst>
              <a:gd name="adj" fmla="val 4688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IA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47685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· RAG · LangChain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2926080"/>
          </a:xfrm>
          <a:prstGeom prst="roundRect">
            <a:avLst>
              <a:gd name="adj" fmla="val 4688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383280"/>
            <a:ext cx="47685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· comunicación con stakeholders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· WORK TREND INDEX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7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usuarios de IA trata su resultado como punto de partida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persona revisando una respuesta de IA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(vende herramientas de IA; dato direccionalmente correcto)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· HABILIDADES QUE MÁS GANAN VALOR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'usar IA', es verificarla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2743200"/>
          </a:xfrm>
          <a:prstGeom prst="roundRect">
            <a:avLst>
              <a:gd name="adj" fmla="val 5000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2743200"/>
          </a:xfrm>
          <a:prstGeom prst="roundRect">
            <a:avLst>
              <a:gd name="adj" fmla="val 5000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Pensamiento crítico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PARA LLEVARTE · BLOQUE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el fin del empleo.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cambio de reglas.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tablero de juego / reglas nuevas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sí hay riesgo, y por qué no es el fin del camino.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548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min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peldaño de la escalera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se está rompiendo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escalera con el primer escalón roto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 · STANFORD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empleo en jóvenes de 22 a 25 años en ocupaciones muy expuestas a IA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canario en la mina (metáfora)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Digital Economy Lab · 'Canaries in the Coal Mine' · revisión agosto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 · STANFORD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2022 → Jun 2026 · jóvenes de 22 a 25 años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−11%</a:t>
            </a:r>
            <a:endParaRPr lang="en-US" sz="9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572000"/>
            <a:ext cx="4768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ocupaciones más expuestas a IA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31636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1636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96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4572000"/>
            <a:ext cx="4768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ocupaciones menos expuestas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 · CASOS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desarrolladores de software de 22 a 25 años desde el pico de fines de 2022 (también atención al cliente)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pantalla con código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Digital Economy Lab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MATIZ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9994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caída se concentra donde la IA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 Donde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trabajo humano, no aparece.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autores titulan su actualización: 'sin desplazamiento generalizado'.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puesto junior cambió, no desapareció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271516" cy="3474720"/>
          </a:xfrm>
          <a:prstGeom prst="roundRect">
            <a:avLst>
              <a:gd name="adj" fmla="val 3947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56032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JUNIOR DE ANTES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175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repetitivas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3891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Aprendía con los años.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77356" y="2286000"/>
            <a:ext cx="5271516" cy="3474720"/>
          </a:xfrm>
          <a:prstGeom prst="roundRect">
            <a:avLst>
              <a:gd name="adj" fmla="val 3947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97396" y="256032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JUNIOR DE AHORA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97396" y="30175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desde el día uno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597396" y="43891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te deja llegar con ese criterio antes.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INCÓMODA · PWC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otro lado de la moneda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453384" cy="3291840"/>
          </a:xfrm>
          <a:prstGeom prst="roundRect">
            <a:avLst>
              <a:gd name="adj" fmla="val 416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3453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</a:t>
            </a:r>
            <a:endParaRPr lang="en-US" sz="6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0624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probabilidad de pedir habilidades de nivel senior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67784" y="2377440"/>
            <a:ext cx="3453384" cy="3291840"/>
          </a:xfrm>
          <a:prstGeom prst="roundRect">
            <a:avLst>
              <a:gd name="adj" fmla="val 416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67784" y="2651760"/>
            <a:ext cx="3453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6800" dirty="0"/>
          </a:p>
        </p:txBody>
      </p:sp>
      <p:sp>
        <p:nvSpPr>
          <p:cNvPr id="11" name="Text 8"/>
          <p:cNvSpPr txBox="1"/>
          <p:nvPr/>
        </p:nvSpPr>
        <p:spPr>
          <a:xfrm>
            <a:off x="4642104" y="420624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crecieron desde 2019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95488" y="2377440"/>
            <a:ext cx="3453384" cy="3291840"/>
          </a:xfrm>
          <a:prstGeom prst="roundRect">
            <a:avLst>
              <a:gd name="adj" fmla="val 416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5488" y="2651760"/>
            <a:ext cx="3453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−10%</a:t>
            </a:r>
            <a:endParaRPr lang="en-US" sz="6800" dirty="0"/>
          </a:p>
        </p:txBody>
      </p:sp>
      <p:sp>
        <p:nvSpPr>
          <p:cNvPr id="14" name="Text 11"/>
          <p:cNvSpPr txBox="1"/>
          <p:nvPr/>
        </p:nvSpPr>
        <p:spPr>
          <a:xfrm>
            <a:off x="8369808" y="420624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puestos de entrada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2026 · datos de EE. UU.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 HONESTA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estos datos NO dicen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453384" cy="2560320"/>
          </a:xfrm>
          <a:prstGeom prst="roundRect">
            <a:avLst>
              <a:gd name="adj" fmla="val 535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de EE. UU.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0040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datos de Ecuador.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67784" y="2286000"/>
            <a:ext cx="3453384" cy="2560320"/>
          </a:xfrm>
          <a:prstGeom prst="roundRect">
            <a:avLst>
              <a:gd name="adj" fmla="val 535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42104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descriptivos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42104" y="320040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tempranos, no causales.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95488" y="2286000"/>
            <a:ext cx="3453384" cy="2560320"/>
          </a:xfrm>
          <a:prstGeom prst="roundRect">
            <a:avLst>
              <a:gd name="adj" fmla="val 535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9808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foto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369808" y="3200400"/>
            <a:ext cx="2904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tendencia puede cambiar.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· EMPLEO JUVENIL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desempleo de jóvenes de 15 a 24 años (vs 3,1% nacional)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Foto: jóvenes en una feria de empleo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INEC · mayo 2026 (citado por El Diario)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· MERCADO LABORAL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empleos de calidad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36,6%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 adecuado nacional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31636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1636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52,8%</a:t>
            </a:r>
            <a:endParaRPr lang="en-US" sz="8800" dirty="0"/>
          </a:p>
        </p:txBody>
      </p:sp>
      <p:sp>
        <p:nvSpPr>
          <p:cNvPr id="11" name="Text 8"/>
          <p:cNvSpPr txBox="1"/>
          <p:nvPr/>
        </p:nvSpPr>
        <p:spPr>
          <a:xfrm>
            <a:off x="6231636" y="457200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informalidad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INEC · mayo 2026 (citado por El Comercio)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· JÓVENES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581.046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jóvenes de 15 a 24 años no estudian ni trabajan (18,25%)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joven con celular / sin rumbo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Microdatos ENEMDU procesados por Expreso · mayo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· LA OPORTUNIDAD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 en IA: hay más demanda que oferta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06040"/>
            <a:ext cx="53172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 10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06240"/>
            <a:ext cx="47685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no encuentran talento en IA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37760"/>
            <a:ext cx="531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CITEC · Primicias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31636" y="237744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31636" y="2606040"/>
            <a:ext cx="53172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19,5%</a:t>
            </a:r>
            <a:endParaRPr lang="en-US" sz="80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4206240"/>
            <a:ext cx="47685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PEA ya adopta IA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31636" y="4937760"/>
            <a:ext cx="5317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Mentinno · El Diario · T1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· OPORTUNIDAD REMOTA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hora que EE. UU. y usamos dólar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UTC-5: casi la misma hora que la costa este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Dólar: sin fricción de pagos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Tendencia, no cifra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13232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Mapa: Ecuador ↔ EE. UU. (husos horarios)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blogs de agencias de contratación; úsalo como tendencia.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LOCAL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Arias, ingeniero en marketing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sintió obsoleto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escéptico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Adoptó la IA para potenciar sus ideas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91440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/ captura de la nota de Primicias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PARA LLEVARTE · BLOQUE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puesto junior cambió,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desapareció.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persona subiendo por una escalera nueva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 de contratación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búsqueda de empleo en 2026 es IA contra IA.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548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Avalancha de solicitudes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9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5720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que la IA aumentó el volumen de postulaciones por vacante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31636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1636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600" dirty="0"/>
          </a:p>
        </p:txBody>
      </p:sp>
      <p:sp>
        <p:nvSpPr>
          <p:cNvPr id="11" name="Text 8"/>
          <p:cNvSpPr txBox="1"/>
          <p:nvPr/>
        </p:nvSpPr>
        <p:spPr>
          <a:xfrm>
            <a:off x="6597396" y="45720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algún grado de IA en su proceso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contra IA: así llega tu solicitud a una persona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2350008" cy="2926080"/>
          </a:xfrm>
          <a:prstGeom prst="roundRect">
            <a:avLst>
              <a:gd name="adj" fmla="val 583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69748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con IA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189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Cientos de solicitudes en minutos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9008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493008" y="2468880"/>
            <a:ext cx="2350008" cy="2926080"/>
          </a:xfrm>
          <a:prstGeom prst="roundRect">
            <a:avLst>
              <a:gd name="adj" fmla="val 583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21608" y="269748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721608" y="35204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con IA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4297680"/>
            <a:ext cx="189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Resume, filtra y agenda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843016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345936" y="2468880"/>
            <a:ext cx="2350008" cy="2926080"/>
          </a:xfrm>
          <a:prstGeom prst="roundRect">
            <a:avLst>
              <a:gd name="adj" fmla="val 583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74536" y="269748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6574536" y="35204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Reclutador humano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574536" y="4297680"/>
            <a:ext cx="189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los pocos que pasan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95944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9198864" y="2468880"/>
            <a:ext cx="2350008" cy="2926080"/>
          </a:xfrm>
          <a:prstGeom prst="roundRect">
            <a:avLst>
              <a:gd name="adj" fmla="val 5837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27464" y="269748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9427464" y="35204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427464" y="4297680"/>
            <a:ext cx="189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vez más presencial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9994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de las empresas hace </a:t>
            </a:r>
            <a:pPr indent="0" marL="0">
              <a:buNone/>
            </a:pPr>
            <a:r>
              <a:rPr lang="en-US" sz="4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administrativas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 No decide.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Genius 2026 · filtrar, redactar ofertas y agendar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se volvió el problema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5720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que las solicitudes con IA hacen el proceso más lento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31636" y="2377440"/>
            <a:ext cx="5317236" cy="3200400"/>
          </a:xfrm>
          <a:prstGeom prst="roundRect">
            <a:avLst>
              <a:gd name="adj" fmla="val 4286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1636" y="26517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600" dirty="0"/>
          </a:p>
        </p:txBody>
      </p:sp>
      <p:sp>
        <p:nvSpPr>
          <p:cNvPr id="11" name="Text 8"/>
          <p:cNvSpPr txBox="1"/>
          <p:nvPr/>
        </p:nvSpPr>
        <p:spPr>
          <a:xfrm>
            <a:off x="6597396" y="45720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que las habilidades son más difíciles de verificar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 · LINKEDIN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reclutador ya tiene un agente de IA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Hiring Assistant (desde sep. 2025)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búsquedas y recomienda candidatos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de filtro con IA (Hiring Pro)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13232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LinkedIn Hiring Assistant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 · HeroHunt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te lee una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máquina.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Después, te ve una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robot leyendo un perfil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 · PRESENCIAL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72,4%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líderes de reclutamiento entrevista en persona para combatir fraude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Foto: entrevista cara a cara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(vía Computerworld) · Google, Cisco y McKinsey reinstalaron rondas presenciales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PREGUNTAS DE LÍDERES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tu respuesta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2926080"/>
          </a:xfrm>
          <a:prstGeom prst="roundRect">
            <a:avLst>
              <a:gd name="adj" fmla="val 4688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Shapero · COO de LinkedIn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47685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has usado la IA?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2926080"/>
          </a:xfrm>
          <a:prstGeom prst="roundRect">
            <a:avLst>
              <a:gd name="adj" fmla="val 4688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Julie Sweet · CEO de Accenture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383280"/>
            <a:ext cx="47685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aprendiste en los últimos seis meses?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¿MITO O REALIDAD? · VOTA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ATS rechaza tu CV automáticamente si el formato no le gusta."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531723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231636" y="3566160"/>
            <a:ext cx="5317236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1636" y="3566160"/>
            <a:ext cx="53172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</a:t>
            </a:r>
            <a:endParaRPr lang="en-US" sz="3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ATS guarda tu CV y permite buscarlo por palabras clave. Lo que lo hunde es la avalancha de competidores.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223760" y="1188720"/>
            <a:ext cx="4343400" cy="2103120"/>
          </a:xfrm>
          <a:prstGeom prst="roundRect">
            <a:avLst>
              <a:gd name="adj" fmla="val 652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99,7%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423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reclutadores filtra por palabras clave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3760" y="3566160"/>
            <a:ext cx="4343400" cy="2103120"/>
          </a:xfrm>
          <a:prstGeom prst="roundRect">
            <a:avLst>
              <a:gd name="adj" fmla="val 6522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749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10,6x</a:t>
            </a:r>
            <a:endParaRPr lang="en-US" sz="56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invitaciones con el título exacto del puesto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Jobscan · encuesta a más de 380 reclutadores (vía ResumeVera, JobCannon)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PARA LLEVARTE · BLOQUE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9994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IA te ayuda a enviar 100 solicitudes, </a:t>
            </a:r>
            <a:pPr indent="0" marL="0">
              <a:buNone/>
            </a:pPr>
            <a:r>
              <a:rPr lang="en-US" sz="4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ayuda a otros 1.000.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ventaja ya no es el volumen.</a:t>
            </a: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tu aliada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CV, LinkedIn y entrevistas. En vivo, sin ediciones.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548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min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EN LA ERA DE LA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Personalizar rinde el doble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adaptado a la oferta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7498080" cy="548640"/>
          </a:xfrm>
          <a:prstGeom prst="roundRect">
            <a:avLst>
              <a:gd name="adj" fmla="val 10000"/>
            </a:avLst>
          </a:prstGeom>
          <a:solidFill>
            <a:srgbClr val="41B3FF"/>
          </a:solidFill>
          <a:ln w="1270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5,75%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genérico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3494757" cy="548640"/>
          </a:xfrm>
          <a:prstGeom prst="roundRect">
            <a:avLst>
              <a:gd name="adj" fmla="val 10000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3437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1,39 millones de postulaciones (The Interview Guys) · % de conversión a entrevista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EN LA ERA DE LA IA · HUNTR T1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solicitudes, mejor adaptadas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11 y 20 solicitudes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7498080" cy="548640"/>
          </a:xfrm>
          <a:prstGeom prst="roundRect">
            <a:avLst>
              <a:gd name="adj" fmla="val 10000"/>
            </a:avLst>
          </a:prstGeom>
          <a:solidFill>
            <a:srgbClr val="41B3FF"/>
          </a:solidFill>
          <a:ln w="1270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9,25%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o más solicitudes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2091356" cy="548640"/>
          </a:xfrm>
          <a:prstGeom prst="roundRect">
            <a:avLst>
              <a:gd name="adj" fmla="val 10000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60036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Huntr T1 2026 (vía The Interview Guys) · % de conversión a entrevista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EN LA ERA DE LA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 y pule.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hechos los pones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persona escribiendo su CV junto a un asistente de 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CONTRAEJEMPLO (1 MIN)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contratarías?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3383280"/>
          </a:xfrm>
          <a:prstGeom prst="roundRect">
            <a:avLst>
              <a:gd name="adj" fmla="val 4865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0360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un CV / mensaje de LinkedIn 100% genérico hecho con IA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Now: 62% de empleadores rechaza CV con IA no personalizados.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GENÉRICO SE CASTIGA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Reclutadores y gerentes lo detectan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empleadores rechaza CV hechos con IA sin personalizar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gerentes descarta los que identifica como generados por IA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Now · Resume.io (vía KraftCV)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EN LA ERA DE LA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reglas para tu CV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089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CV base + una versión por oferta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35858" y="228600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10178" y="256032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10178" y="31089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exacto del puesto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31636" y="228600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05956" y="256032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05956" y="31089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logro: verbo, acción, número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027414" y="228600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01734" y="256032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301734" y="310896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que la IA te entreviste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425196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52628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7492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simple, una columna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435858" y="425196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10178" y="452628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3710178" y="507492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Léelo en voz alta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231636" y="4251960"/>
            <a:ext cx="2521458" cy="1691640"/>
          </a:xfrm>
          <a:prstGeom prst="roundRect">
            <a:avLst>
              <a:gd name="adj" fmla="val 81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05956" y="452628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505956" y="507492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exageres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EN LA ERA DE LA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responsabilidad a logro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271516" cy="3474720"/>
          </a:xfrm>
          <a:prstGeom prst="roundRect">
            <a:avLst>
              <a:gd name="adj" fmla="val 3947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56032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175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"Encargado de redes sociales."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7356" y="2286000"/>
            <a:ext cx="5271516" cy="3474720"/>
          </a:xfrm>
          <a:prstGeom prst="roundRect">
            <a:avLst>
              <a:gd name="adj" fmla="val 3947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97396" y="256032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97396" y="3017520"/>
            <a:ext cx="46314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"Aumenté 40% el alcance de Instagram en 6 meses con un calendario de contenido."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· CV CONTRA LA OFERTA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una oferta real y tu CV base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908792" cy="2377440"/>
          </a:xfrm>
          <a:prstGeom prst="roundRect">
            <a:avLst>
              <a:gd name="adj" fmla="val 5769"/>
            </a:avLst>
          </a:prstGeom>
          <a:solidFill>
            <a:srgbClr val="1B252F"/>
          </a:solidFill>
          <a:ln w="12700">
            <a:solidFill>
              <a:srgbClr val="2B39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28600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"Compara mi CV con esta oferta. Dime qué falta, qué sobra y qué palabras clave debo usar. No inventes nada."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una oferta real de un portal ecuatoriano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7784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96384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antes y después de un logro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95488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4088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falla el internet: capturas de respaldo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· captura de respaldo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3566160"/>
          </a:xfrm>
          <a:prstGeom prst="roundRect">
            <a:avLst>
              <a:gd name="adj" fmla="val 4615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CV + oferta + respuesta de la 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· LA IA TE ENTREVISTA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encontrar tus logros medibles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908792" cy="2377440"/>
          </a:xfrm>
          <a:prstGeom prst="roundRect">
            <a:avLst>
              <a:gd name="adj" fmla="val 5769"/>
            </a:avLst>
          </a:prstGeom>
          <a:solidFill>
            <a:srgbClr val="1B252F"/>
          </a:solidFill>
          <a:ln w="12700">
            <a:solidFill>
              <a:srgbClr val="2B39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286000"/>
            <a:ext cx="101772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"Hazme preguntas, una a la vez, sobre mi último trabajo hasta encontrar 3 logros medibles. No inventes nada."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voluntario del público responde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7784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96384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logros salen de su experiencia real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95488" y="4937760"/>
            <a:ext cx="3453384" cy="914400"/>
          </a:xfrm>
          <a:prstGeom prst="roundRect">
            <a:avLst>
              <a:gd name="adj" fmla="val 15000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4088" y="49377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dejes que invente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· captura de respaldo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3566160"/>
          </a:xfrm>
          <a:prstGeom prst="roundRect">
            <a:avLst>
              <a:gd name="adj" fmla="val 4615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conversación con logros encontrados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EN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perfil es un documento que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lee una máquina.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perfil de LinkedIn con lupa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EN 2026 · TITULAR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+ especialidad + prueba de valor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"Desarrollador Flutter | Apps móviles con IA | 20+ apps publicadas"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aparece en los resultados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13232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un buen titular en LinkedIn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 · Tres titulares, tú votas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3566160"/>
          </a:xfrm>
          <a:prstGeom prst="roundRect">
            <a:avLst>
              <a:gd name="adj" fmla="val 4615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versiones del titular generadas por la IA (que el público vote)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EN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perfil en seis partes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y banner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661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más visitas y mensajes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7784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2104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42104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42104" y="35661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 más: hasta 17x más visitas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5488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9808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369808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Acerca de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69808" y="35661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mejor en las primeras líneas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Destacados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6235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portafolio dentro de LinkedIn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367784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42104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4642104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4642104" y="56235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logros medibles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5488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9808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8369808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Work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369808" y="5623560"/>
            <a:ext cx="290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solo para reclutadores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EN 2026 · DÓNDE POSTULAR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6,87%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a entrevista al postular en la web de la empresa (vs 1,95% en LinkedIn)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botón 'Solicitud sencilla'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Huntr · 1,24 millones de postulaciones (vía Lumyhired)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EN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Prepararte con IA: sí. Que responda por ti: no.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3017520"/>
          </a:xfrm>
          <a:prstGeom prst="roundRect">
            <a:avLst>
              <a:gd name="adj" fmla="val 4545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Sí: úsala para prepararte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47685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probables · simulación por voz · historias STAR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3017520"/>
          </a:xfrm>
          <a:prstGeom prst="roundRect">
            <a:avLst>
              <a:gd name="adj" fmla="val 4545"/>
            </a:avLst>
          </a:prstGeom>
          <a:solidFill>
            <a:srgbClr val="3A2A24"/>
          </a:solidFill>
          <a:ln w="12700">
            <a:solidFill>
              <a:srgbClr val="3A2A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que piense por ti en vivo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383280"/>
            <a:ext cx="47685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fraude y cada vez más empresas lo detectan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EN 2026 · EL 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fraude en entrevistas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buscadores admitió fraude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3891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(unos 3.000 encuestados)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1636" y="2286000"/>
            <a:ext cx="5317236" cy="3108960"/>
          </a:xfrm>
          <a:prstGeom prst="roundRect">
            <a:avLst>
              <a:gd name="adj" fmla="val 441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4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falsos en 2028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05956" y="43891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Gartner: es una proyección, no una medición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EN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prepararte con 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779422" cy="2926080"/>
          </a:xfrm>
          <a:prstGeom prst="roundRect">
            <a:avLst>
              <a:gd name="adj" fmla="val 77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69748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la oferta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13222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las 10 preguntas más probables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19502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922422" y="2468880"/>
            <a:ext cx="1779422" cy="2926080"/>
          </a:xfrm>
          <a:prstGeom prst="roundRect">
            <a:avLst>
              <a:gd name="adj" fmla="val 77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1022" y="269748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151022" y="352044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por voz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151022" y="4297680"/>
            <a:ext cx="13222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te pregunte y repregunte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701845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5204765" y="2468880"/>
            <a:ext cx="1779422" cy="2926080"/>
          </a:xfrm>
          <a:prstGeom prst="roundRect">
            <a:avLst>
              <a:gd name="adj" fmla="val 77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33365" y="269748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5433365" y="352044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STAR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33365" y="4297680"/>
            <a:ext cx="13222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 6 reales, practicadas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84187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7487107" y="2468880"/>
            <a:ext cx="1779422" cy="2926080"/>
          </a:xfrm>
          <a:prstGeom prst="roundRect">
            <a:avLst>
              <a:gd name="adj" fmla="val 77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15707" y="269748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7715707" y="352044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la empresa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15707" y="4297680"/>
            <a:ext cx="13222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Productos, noticias, problemas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266530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9769450" y="2468880"/>
            <a:ext cx="1779422" cy="2926080"/>
          </a:xfrm>
          <a:prstGeom prst="roundRect">
            <a:avLst>
              <a:gd name="adj" fmla="val 7708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998050" y="269748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9998050" y="3520440"/>
            <a:ext cx="13222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Ensaya sobre IA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9998050" y="4297680"/>
            <a:ext cx="132222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la usas? Con ejemplo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 · Simulación de entrevista por voz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3566160"/>
          </a:xfrm>
          <a:prstGeom prst="roundRect">
            <a:avLst>
              <a:gd name="adj" fmla="val 4615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14400" y="210312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la IA entrevista y califica con STAR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EN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9994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IA piensa por ti en la entrevista, 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día uno en el trabajo se va a notar.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PARA LLEVARTE · BLOQUE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adapta y pule;</a:t>
            </a:r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hechos los pones tú.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223760" y="1005840"/>
            <a:ext cx="4343400" cy="4846320"/>
          </a:xfrm>
          <a:prstGeom prst="roundRect">
            <a:avLst>
              <a:gd name="adj" fmla="val 378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498080" y="1005840"/>
            <a:ext cx="3794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manos humanas y robóticas escribiendo juntas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 y plan de 30 días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te encuentren, no solo buscar.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548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 Y NETWORKING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11x</a:t>
            </a:r>
            <a:endParaRPr lang="en-US" sz="17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tasa de contratación para candidatos referidos frente a postular en frío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dos personas dándose la mano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· más de 165 millones de postulaciones (vía Lumyhired)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CONTRAPESO HONESTO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Postular sí funciona. Lo que falla es postular en masa.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17236" cy="3017520"/>
          </a:xfrm>
          <a:prstGeom prst="roundRect">
            <a:avLst>
              <a:gd name="adj" fmla="val 4545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43–52%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contrataciones vienen de postulaciones directas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31636" y="2286000"/>
            <a:ext cx="5317236" cy="3017520"/>
          </a:xfrm>
          <a:prstGeom prst="roundRect">
            <a:avLst>
              <a:gd name="adj" fmla="val 4545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25603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17–18%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347472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contrataciones vienen de referidos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Ashby · 250.000 contrataciones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DE LOS BUSCADORES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va el tiempo de búsqueda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Postulando en línea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7498080" cy="548640"/>
          </a:xfrm>
          <a:prstGeom prst="roundRect">
            <a:avLst>
              <a:gd name="adj" fmla="val 10000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Haciendo networking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1323191" cy="548640"/>
          </a:xfrm>
          <a:prstGeom prst="roundRect">
            <a:avLst>
              <a:gd name="adj" fmla="val 10000"/>
            </a:avLst>
          </a:prstGeom>
          <a:solidFill>
            <a:srgbClr val="41B3FF"/>
          </a:solidFill>
          <a:ln w="12700">
            <a:solidFill>
              <a:srgbClr val="41B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91871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de Huntr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 PRÁCTICA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ser influencer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público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204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Behance o una página con 2–3 proyectos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7784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2104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42104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en público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42104" y="35204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publicación por semana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5488" y="21031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9808" y="23774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369808" y="29260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con IA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69808" y="35204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pequeño vale más que un certificado más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5778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Meetups, hackathons, eventos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367784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42104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4642104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con motivo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4642104" y="55778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Menciona algo específico de la persona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5488" y="4160520"/>
            <a:ext cx="3453384" cy="1783080"/>
          </a:xfrm>
          <a:prstGeom prst="roundRect">
            <a:avLst>
              <a:gd name="adj" fmla="val 769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9808" y="44348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8369808" y="49834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369808" y="5577840"/>
            <a:ext cx="2904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CV, LinkedIn y portafolio: la misma historia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pequeño con IA que resuelva un problema local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13232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un portafolio o repo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con motivo concreto vale más que 100 genéricos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32918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Menciona algo que publicó o hizo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mensajes de IA sin revisar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005840"/>
            <a:ext cx="4663440" cy="4846320"/>
          </a:xfrm>
          <a:prstGeom prst="roundRect">
            <a:avLst>
              <a:gd name="adj" fmla="val 3529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914400" y="1005840"/>
            <a:ext cx="4114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mensaje genérico vs personalizado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 · 10 horas por semana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2521458" cy="2377440"/>
          </a:xfrm>
          <a:prstGeom prst="roundRect">
            <a:avLst>
              <a:gd name="adj" fmla="val 5769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74320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9184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35858" y="2468880"/>
            <a:ext cx="2521458" cy="2377440"/>
          </a:xfrm>
          <a:prstGeom prst="roundRect">
            <a:avLst>
              <a:gd name="adj" fmla="val 5769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10178" y="274320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10178" y="329184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y LinkedIn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31636" y="2468880"/>
            <a:ext cx="2521458" cy="2377440"/>
          </a:xfrm>
          <a:prstGeom prst="roundRect">
            <a:avLst>
              <a:gd name="adj" fmla="val 5769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05956" y="274320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05956" y="329184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pública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027414" y="2468880"/>
            <a:ext cx="2521458" cy="2377440"/>
          </a:xfrm>
          <a:prstGeom prst="roundRect">
            <a:avLst>
              <a:gd name="adj" fmla="val 5769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01734" y="2743200"/>
            <a:ext cx="197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301734" y="3291840"/>
            <a:ext cx="1972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y postulaciones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 DE 30 DÍAS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 · Base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1 o 2 roles objetivo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Reúne 10 ofertas reales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IA, extrae las habilidades que más se repiten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223760" y="2286000"/>
            <a:ext cx="4343400" cy="3017520"/>
          </a:xfrm>
          <a:prstGeom prst="roundRect">
            <a:avLst>
              <a:gd name="adj" fmla="val 4545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43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089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habilidades y palabras clave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 DE 30 DÍAS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 · CV y LinkedIn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base con logros medibles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Titular, Acerca de, habilidades y Destacados alineados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223760" y="2286000"/>
            <a:ext cx="4343400" cy="3017520"/>
          </a:xfrm>
          <a:prstGeom prst="roundRect">
            <a:avLst>
              <a:gd name="adj" fmla="val 4545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43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089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base + perfil actualizado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 DE 30 DÍAS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3 · Prueba pública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pequeño con IA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publicación contando qué aprendiste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223760" y="2286000"/>
            <a:ext cx="4343400" cy="3017520"/>
          </a:xfrm>
          <a:prstGeom prst="roundRect">
            <a:avLst>
              <a:gd name="adj" fmla="val 4545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43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089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proyecto + 1 publicación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 DE 30 DÍAS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 · Red y postulaciones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mensajes personalizados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 a una comunidad o evento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postulaciones adaptadas en la web de la empresa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simulaciones de entrevista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223760" y="2286000"/>
            <a:ext cx="4343400" cy="3017520"/>
          </a:xfrm>
          <a:prstGeom prst="roundRect">
            <a:avLst>
              <a:gd name="adj" fmla="val 4545"/>
            </a:avLst>
          </a:prstGeom>
          <a:solidFill>
            <a:srgbClr val="1D3A52"/>
          </a:solidFill>
          <a:ln w="19050">
            <a:solidFill>
              <a:srgbClr val="41B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43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0896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Postulaciones enviadas + práctica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280160"/>
            <a:ext cx="999439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postulaciones,</a:t>
            </a:r>
            <a:pPr indent="0" marL="0">
              <a:buNone/>
            </a:pPr>
            <a:r>
              <a:rPr lang="en-US" sz="48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mejor adaptadas,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alguien que te recomiende.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VOLVAMOS A LA PREGUNTA DEL INICIO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sigue creyendo que la IA le va a quitar el trabajo?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 la mano otra vez.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endParaRPr lang="en-US" sz="1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salarial para quien sabe usar IA con criterio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589520" y="1005840"/>
            <a:ext cx="3977640" cy="4846320"/>
          </a:xfrm>
          <a:prstGeom prst="roundRect">
            <a:avLst>
              <a:gd name="adj" fmla="val 4138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863840" y="1005840"/>
            <a:ext cx="3429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Imagen: persona con laptop sonriendo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· AI Jobs Barometer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05840" y="1371600"/>
            <a:ext cx="101772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IA no te consigue el trabajo sola. Tú, con IA, sí."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1005840" y="484632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Cristhian Recalde</a:t>
            </a:r>
            <a:endParaRPr lang="en-US" sz="2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DIFÍCILES · 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preparadas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453384" cy="3657600"/>
          </a:xfrm>
          <a:prstGeom prst="roundRect">
            <a:avLst>
              <a:gd name="adj" fmla="val 397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en Ecuador las empresas ni usan IA?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66160"/>
            <a:ext cx="2904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19,5% de la PEA la adopta, pero 7 de 10 empresas no encuentran talento. La escasez es la oportunidad.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67784" y="2286000"/>
            <a:ext cx="3453384" cy="3657600"/>
          </a:xfrm>
          <a:prstGeom prst="roundRect">
            <a:avLst>
              <a:gd name="adj" fmla="val 397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42104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¿No es trampa usar IA para el CV?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642104" y="3566160"/>
            <a:ext cx="2904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empresas también la usan para filtrarte. La línea ética: no inventar ni exagerar.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95488" y="2286000"/>
            <a:ext cx="3453384" cy="3657600"/>
          </a:xfrm>
          <a:prstGeom prst="roundRect">
            <a:avLst>
              <a:gd name="adj" fmla="val 3972"/>
            </a:avLst>
          </a:prstGeom>
          <a:solidFill>
            <a:srgbClr val="222D39"/>
          </a:solidFill>
          <a:ln w="12700">
            <a:solidFill>
              <a:srgbClr val="222D3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9808" y="256032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de humanidades, ¿me sirve?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369808" y="3566160"/>
            <a:ext cx="2904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habilidades humanas crecen al ritmo de las técnicas. Aprende a usar las herramientas en tu campo; no hace falta programar.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 Hablemos.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49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548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y llévate los prompts, el plan de 30 días y las fuentes.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89520" y="1188720"/>
            <a:ext cx="3931920" cy="4480560"/>
          </a:xfrm>
          <a:prstGeom prst="roundRect">
            <a:avLst>
              <a:gd name="adj" fmla="val 4186"/>
            </a:avLst>
          </a:prstGeom>
          <a:solidFill>
            <a:srgbClr val="1B252F"/>
          </a:solidFill>
          <a:ln w="19050">
            <a:solidFill>
              <a:srgbClr val="3E5266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863840" y="118872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IMAGEN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 la versión web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51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@cry.code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Económico Mundial — Future of Jobs Report 2025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— 2026 Global AI Jobs Barometer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Digital Economy Lab — Canaries in the Coal Mine (ago 2026)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Mundial — World Development Report 2026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 y Banco Mundial — IA generativa en América Latina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— Skills on the Rise 2026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— Work Trend Index 2026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Genius — AI Impact on Hiring 2026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Computerworld — entrevistas presenciales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1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Prensa ecuatoriana y fuentes secundarias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INEC — ENEMDU mayo 2026 (vía El Comercio, El Diario, Expreso)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Primicias — PwC e IA en Ecuador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Interview Guys · HeroHunt · Noon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Peopable · KraftCV · JobCannon · ResumeVera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Lumyhired · StaffingHub · Truffle · Fortune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8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 no te quitará el trabajo, pero sí te lo puede conseguir</dc:title>
  <dc:subject>PptxGenJS Presentation</dc:subject>
  <dc:creator>Cristhian Recalde</dc:creator>
  <cp:lastModifiedBy>Cristhian Recalde</cp:lastModifiedBy>
  <cp:revision>1</cp:revision>
  <dcterms:created xsi:type="dcterms:W3CDTF">2026-09-29T23:44:04Z</dcterms:created>
  <dcterms:modified xsi:type="dcterms:W3CDTF">2026-09-29T23:44:04Z</dcterms:modified>
</cp:coreProperties>
</file>